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5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30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0" y="1439714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PRDA-04   ·   PROJECT REPORT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48" y="1805474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 Analysis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048" y="2868697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Behaviour by Gender, Age, Category &amp; Payment Method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2867" y="3545632"/>
            <a:ext cx="1828800" cy="0"/>
          </a:xfrm>
          <a:prstGeom prst="line">
            <a:avLst/>
          </a:prstGeom>
          <a:noFill/>
          <a:ln w="12700">
            <a:solidFill>
              <a:srgbClr val="2F5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-107209" y="419597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-107209" y="4518815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V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0" y="504179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PTID-CDA-SEP-26-11151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8006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 Analysis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80060" y="219176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behaviour across 99,457 transactions in 10 Istanbul malls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 251.5M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07080" y="420810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298,712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4764211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65520" y="416238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745549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54440" y="416238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 2,529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66530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64008" cy="1828800"/>
          </a:xfrm>
          <a:prstGeom prst="rect">
            <a:avLst/>
          </a:prstGeom>
          <a:solidFill>
            <a:srgbClr val="131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 251.5M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– Mar 2023, 10 malls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920240"/>
            <a:ext cx="64008" cy="182880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298,712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items per purchase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069080"/>
            <a:ext cx="64008" cy="18288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49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 per customer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4069080"/>
            <a:ext cx="64008" cy="1828800"/>
          </a:xfrm>
          <a:prstGeom prst="rect">
            <a:avLst/>
          </a:prstGeom>
          <a:solidFill>
            <a:srgbClr val="131F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 2,529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VALUE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349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 women and men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3200" dirty="0"/>
          </a:p>
        </p:txBody>
      </p:sp>
      <p:pic>
        <p:nvPicPr>
          <p:cNvPr id="4" name="Image 0" descr="Gender 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9" y="1600200"/>
            <a:ext cx="611240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make 59.48K of the 99,457 transactions (59.81%); men make 39.98K (40.19%).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roughly 60/40 split holds in every one of the 10 malls (female share 58.5–61.0%).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the larger customer segment company-wide, not just in a few locations.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units sold by gender</a:t>
            </a:r>
            <a:endParaRPr lang="en-US" sz="3200" dirty="0"/>
          </a:p>
        </p:txBody>
      </p:sp>
      <p:pic>
        <p:nvPicPr>
          <p:cNvPr id="4" name="Image 0" descr="Revenue and units sold by g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554480"/>
            <a:ext cx="11064240" cy="30013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8443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31910"/>
            <a:ext cx="11064240" cy="15432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bought 178,659 units (59.8%) against 120,053 for men (40.2%).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generated TL 150.2M (59.7%) against TL 101.3M for men (40.3%).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is almost identical (TL 2,525 vs TL 2,534), so women lead through more transactions, not larger ones.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 by gender</a:t>
            </a:r>
            <a:endParaRPr lang="en-US" sz="3200" dirty="0"/>
          </a:p>
        </p:txBody>
      </p:sp>
      <p:pic>
        <p:nvPicPr>
          <p:cNvPr id="4" name="Image 0" descr="Category revenue by g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554480"/>
            <a:ext cx="11064240" cy="2207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906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38080"/>
            <a:ext cx="11064240" cy="2337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(TL 114.0M), Shoes (TL 66.6M) and Technology (TL 57.9M) produce 94.8% of revenue.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lead in every category; Clothing is 45.4% of female and 45.2% of male revenue.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mix is nearly identical for both genders.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distribution by age</a:t>
            </a:r>
            <a:endParaRPr lang="en-US" sz="3200" dirty="0"/>
          </a:p>
        </p:txBody>
      </p:sp>
      <p:pic>
        <p:nvPicPr>
          <p:cNvPr id="4" name="Image 0" descr="Shopping distribution by 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554480"/>
            <a:ext cx="11064240" cy="3083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66431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3903"/>
            <a:ext cx="11064240" cy="146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20–69 are almost level: 18.9K–19.3K transactions and 57K–58K units per decade.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20s lead narrowly on units (57,949).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“10” group covers only ages 18–19; per year of age it matches the others (about 1,890 transactions per age year).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category mix by age</a:t>
            </a:r>
            <a:endParaRPr lang="en-US" sz="3200" dirty="0"/>
          </a:p>
        </p:txBody>
      </p:sp>
      <p:pic>
        <p:nvPicPr>
          <p:cNvPr id="4" name="Image 0" descr="Revenue and category mix by 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554480"/>
            <a:ext cx="11064240" cy="297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5378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01256"/>
            <a:ext cx="11064240" cy="15738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40s generate the most revenue (TL 49.2M), then the 20s (TL 49.0M); the 30s, 50s and 60s sit within TL 47.6M–48.3M.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44–47% of revenue in every age group.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highest in the 30s (24.2%) and lowest at ages 18–19 (19.4%).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distribution</a:t>
            </a:r>
            <a:endParaRPr lang="en-US" sz="3200" dirty="0"/>
          </a:p>
        </p:txBody>
      </p:sp>
      <p:pic>
        <p:nvPicPr>
          <p:cNvPr id="4" name="Image 0" descr="Payment method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626" y="1554480"/>
            <a:ext cx="8368442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59552"/>
            <a:ext cx="11064240" cy="11155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leads with 44,447 transactions (44.69%), then credit card (34,931; 35.12%) and debit card (20,079; 20.19%).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and women use each method in the same proportions (about 45 / 35 / 20).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by age</a:t>
            </a:r>
            <a:endParaRPr lang="en-US" sz="3200" dirty="0"/>
          </a:p>
        </p:txBody>
      </p:sp>
      <p:pic>
        <p:nvPicPr>
          <p:cNvPr id="4" name="Image 0" descr="Payment method by 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892" y="1554480"/>
            <a:ext cx="9189909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59552"/>
            <a:ext cx="11064240" cy="11155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45 / 35 / 20 split (cash / credit / debit) holds within 1–2 points in every age group.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find no significant link between payment method and age (p = 0.67) or gender (p = 0.26).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by category</a:t>
            </a:r>
            <a:endParaRPr lang="en-US" sz="3200" dirty="0"/>
          </a:p>
        </p:txBody>
      </p:sp>
      <p:pic>
        <p:nvPicPr>
          <p:cNvPr id="4" name="Image 0" descr="Payment method by categ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224" y="1554480"/>
            <a:ext cx="8141245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59552"/>
            <a:ext cx="11064240" cy="11155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split holds across all eight categories; bars differ only because category sizes differ.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link with category (p = 0.87), so payment choice cannot be used to segment customers.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&amp; recommendations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99,457 transactions, TL 251.5M revenue and 298,712 units; average basket TL 2,529 (about 3 items per purchase).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drive about 60% of transactions, units and revenue, yet spend the same per visit as men.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20–69 each contribute roughly one-fifth of sales; no single generation dominates.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Shoes and Technology produce 94.8% of revenue; the payment mix (45 / 35 / 20) is uniform across every group.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24028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marketing at women, and use offers that bring men in more often, since their basket already matches.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Clothing, Shoes and Technology, and use low-price categories (Cosmetics, Toys, Food &amp; Beverage) as bundle add-ons.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Technology among under-30s (19–22% of revenue vs 24% in the 30s) with student or instalment offers.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seven lower-traffic malls (TL 12–25M vs about TL 50M for the top two) at a similar basket size.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30</TotalTime>
  <Words>736</Words>
  <Application>Microsoft Office PowerPoint</Application>
  <PresentationFormat>Widescreen</PresentationFormat>
  <Paragraphs>97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 V</cp:lastModifiedBy>
  <cp:revision>3</cp:revision>
  <dcterms:created xsi:type="dcterms:W3CDTF">2026-09-19T16:17:30Z</dcterms:created>
  <dcterms:modified xsi:type="dcterms:W3CDTF">2026-09-28T06:31:39Z</dcterms:modified>
</cp:coreProperties>
</file>